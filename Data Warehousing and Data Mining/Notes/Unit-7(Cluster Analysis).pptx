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57" r:id="rId5"/>
    <p:sldId id="266" r:id="rId6"/>
    <p:sldId id="258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1" r:id="rId20"/>
    <p:sldId id="279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0" r:id="rId30"/>
    <p:sldId id="291" r:id="rId31"/>
    <p:sldId id="260" r:id="rId32"/>
    <p:sldId id="294" r:id="rId33"/>
    <p:sldId id="289" r:id="rId34"/>
    <p:sldId id="292" r:id="rId35"/>
    <p:sldId id="293" r:id="rId36"/>
    <p:sldId id="261" r:id="rId37"/>
    <p:sldId id="296" r:id="rId38"/>
    <p:sldId id="295" r:id="rId39"/>
    <p:sldId id="297" r:id="rId40"/>
    <p:sldId id="299" r:id="rId41"/>
    <p:sldId id="298" r:id="rId42"/>
    <p:sldId id="262" r:id="rId43"/>
    <p:sldId id="30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17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75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1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3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5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0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7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4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7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DCBDF6B-B658-498B-9397-7EAA4B28A265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E48EABA-E5A5-4658-B258-0B664E5A347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71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285014"/>
          </a:xfrm>
        </p:spPr>
        <p:txBody>
          <a:bodyPr/>
          <a:lstStyle/>
          <a:p>
            <a:pPr algn="ctr"/>
            <a:r>
              <a:rPr lang="en-US" dirty="0" smtClean="0"/>
              <a:t>Unit-7</a:t>
            </a:r>
            <a:br>
              <a:rPr lang="en-US" dirty="0" smtClean="0"/>
            </a:br>
            <a:r>
              <a:rPr lang="en-US" dirty="0" smtClean="0"/>
              <a:t>Cluster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33385" y="4455620"/>
            <a:ext cx="3225065" cy="1143000"/>
          </a:xfrm>
        </p:spPr>
        <p:txBody>
          <a:bodyPr/>
          <a:lstStyle/>
          <a:p>
            <a:r>
              <a:rPr lang="en-US" dirty="0" smtClean="0"/>
              <a:t>Compiled By:</a:t>
            </a:r>
          </a:p>
          <a:p>
            <a:r>
              <a:rPr lang="en-US" dirty="0" err="1" smtClean="0"/>
              <a:t>Ghanashyam</a:t>
            </a:r>
            <a:r>
              <a:rPr lang="en-US" dirty="0" smtClean="0"/>
              <a:t> BK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64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1339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Cluster: </a:t>
            </a:r>
            <a:r>
              <a:rPr lang="en-US" sz="2400" dirty="0"/>
              <a:t>a collection of data objects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Similar </a:t>
            </a:r>
            <a:r>
              <a:rPr lang="en-US" sz="2400" dirty="0"/>
              <a:t>to one another within the same cluster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Dissimilar </a:t>
            </a:r>
            <a:r>
              <a:rPr lang="en-US" sz="2400" dirty="0"/>
              <a:t>to the objects in other clusters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Cluster </a:t>
            </a:r>
            <a:r>
              <a:rPr lang="en-US" sz="2400" b="1" dirty="0"/>
              <a:t>analysis </a:t>
            </a:r>
            <a:endParaRPr lang="en-US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Finding </a:t>
            </a:r>
            <a:r>
              <a:rPr lang="en-US" sz="2400" dirty="0"/>
              <a:t>similarities between data according to the characteristics found in the data and grouping similar data objects into clusters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Unsupervised </a:t>
            </a:r>
            <a:r>
              <a:rPr lang="en-US" sz="2400" b="1" dirty="0"/>
              <a:t>learning: </a:t>
            </a:r>
            <a:r>
              <a:rPr lang="en-US" sz="2400" dirty="0"/>
              <a:t>no predefined classes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Typical </a:t>
            </a:r>
            <a:r>
              <a:rPr lang="en-US" sz="2400" b="1" dirty="0"/>
              <a:t>applications </a:t>
            </a:r>
            <a:endParaRPr lang="en-US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As </a:t>
            </a:r>
            <a:r>
              <a:rPr lang="en-US" sz="2400" dirty="0"/>
              <a:t>a stand-alone tool to get insight into data distribution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As </a:t>
            </a:r>
            <a:r>
              <a:rPr lang="en-US" sz="2400" dirty="0"/>
              <a:t>a preprocessing step for other algorithms </a:t>
            </a:r>
          </a:p>
        </p:txBody>
      </p:sp>
    </p:spTree>
    <p:extLst>
      <p:ext uri="{BB962C8B-B14F-4D97-AF65-F5344CB8AC3E}">
        <p14:creationId xmlns:p14="http://schemas.microsoft.com/office/powerpoint/2010/main" val="191865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Clustering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18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Marketing: </a:t>
            </a:r>
            <a:r>
              <a:rPr lang="en-US" sz="2400" dirty="0"/>
              <a:t>Help marketers discover distinct groups in their customer bases, and then use this knowledge to develop targeted marketing programs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Land </a:t>
            </a:r>
            <a:r>
              <a:rPr lang="en-US" sz="2400" b="1" dirty="0"/>
              <a:t>use: </a:t>
            </a:r>
            <a:r>
              <a:rPr lang="en-US" sz="2400" dirty="0"/>
              <a:t>Identification of areas of similar land use in an earth observation database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City-planning</a:t>
            </a:r>
            <a:r>
              <a:rPr lang="en-US" sz="2400" b="1" dirty="0"/>
              <a:t>: </a:t>
            </a:r>
            <a:r>
              <a:rPr lang="en-US" sz="2400" dirty="0"/>
              <a:t>Identifying groups of houses according to their house type, value, and geographical location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Earth-quake </a:t>
            </a:r>
            <a:r>
              <a:rPr lang="en-US" sz="2400" b="1" dirty="0"/>
              <a:t>studies: </a:t>
            </a:r>
            <a:r>
              <a:rPr lang="en-US" sz="2400" dirty="0"/>
              <a:t>Observed earth quake epicenters should be clustered along continent faults </a:t>
            </a:r>
          </a:p>
        </p:txBody>
      </p:sp>
    </p:spTree>
    <p:extLst>
      <p:ext uri="{BB962C8B-B14F-4D97-AF65-F5344CB8AC3E}">
        <p14:creationId xmlns:p14="http://schemas.microsoft.com/office/powerpoint/2010/main" val="331168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in cluster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Interval-scaled </a:t>
            </a:r>
            <a:r>
              <a:rPr lang="en-US" b="1" dirty="0" smtClean="0"/>
              <a:t>variables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Calculate the mean absolute deviation</a:t>
            </a:r>
            <a:r>
              <a:rPr lang="en-US" sz="2000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Where,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Calculate </a:t>
            </a:r>
            <a:r>
              <a:rPr lang="en-US" sz="2000" dirty="0"/>
              <a:t>the standardized measurement (z-score) </a:t>
            </a:r>
            <a:endParaRPr lang="en-US" sz="2000" dirty="0" smtClean="0"/>
          </a:p>
          <a:p>
            <a:pPr lvl="2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84" y="2588093"/>
            <a:ext cx="5007267" cy="6445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032" y="3543089"/>
            <a:ext cx="2590800" cy="628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642" y="4830227"/>
            <a:ext cx="2204703" cy="79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9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in cluster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Binary </a:t>
            </a:r>
            <a:r>
              <a:rPr lang="en-US" dirty="0" smtClean="0"/>
              <a:t>variables, Nominal, Ordinal and Ratio </a:t>
            </a:r>
            <a:r>
              <a:rPr lang="en-US" dirty="0"/>
              <a:t>variables </a:t>
            </a:r>
            <a:endParaRPr lang="en-US" dirty="0" smtClean="0"/>
          </a:p>
        </p:txBody>
      </p:sp>
      <p:pic>
        <p:nvPicPr>
          <p:cNvPr id="1026" name="Picture 2" descr="Levels of Measurement: Nominal, Ordinal, Interval and Ratio - Stat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287" y="2412217"/>
            <a:ext cx="7610385" cy="366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06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and dissimilarity between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Distances</a:t>
            </a:r>
            <a:r>
              <a:rPr lang="en-US" dirty="0"/>
              <a:t> are normally used to measure the </a:t>
            </a:r>
            <a:r>
              <a:rPr lang="en-US" b="1" dirty="0"/>
              <a:t>similarity or dissimilarity </a:t>
            </a:r>
            <a:r>
              <a:rPr lang="en-US" dirty="0"/>
              <a:t>between two data </a:t>
            </a:r>
            <a:r>
              <a:rPr lang="en-US" dirty="0" smtClean="0"/>
              <a:t>objects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Some popular ones </a:t>
            </a:r>
            <a:r>
              <a:rPr lang="en-US" dirty="0" smtClean="0"/>
              <a:t>include</a:t>
            </a:r>
            <a:r>
              <a:rPr lang="en-US" dirty="0"/>
              <a:t>: </a:t>
            </a:r>
            <a:r>
              <a:rPr lang="en-US" b="1" dirty="0" err="1"/>
              <a:t>Minkowski</a:t>
            </a:r>
            <a:r>
              <a:rPr lang="en-US" b="1" dirty="0"/>
              <a:t> distance</a:t>
            </a:r>
            <a:r>
              <a:rPr lang="en-US" b="1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Where, </a:t>
            </a:r>
            <a:r>
              <a:rPr lang="en-US" dirty="0" err="1"/>
              <a:t>i</a:t>
            </a:r>
            <a:r>
              <a:rPr lang="en-US" dirty="0"/>
              <a:t> = (x</a:t>
            </a:r>
            <a:r>
              <a:rPr lang="en-US" baseline="-25000" dirty="0"/>
              <a:t>i1</a:t>
            </a:r>
            <a:r>
              <a:rPr lang="en-US" dirty="0"/>
              <a:t>, x</a:t>
            </a:r>
            <a:r>
              <a:rPr lang="en-US" baseline="-25000" dirty="0"/>
              <a:t>i2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ip</a:t>
            </a:r>
            <a:r>
              <a:rPr lang="en-US" dirty="0"/>
              <a:t>) and j = (x</a:t>
            </a:r>
            <a:r>
              <a:rPr lang="en-US" baseline="-25000" dirty="0"/>
              <a:t>j1</a:t>
            </a:r>
            <a:r>
              <a:rPr lang="en-US" dirty="0"/>
              <a:t>, x</a:t>
            </a:r>
            <a:r>
              <a:rPr lang="en-US" baseline="-25000" dirty="0"/>
              <a:t>j2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jp</a:t>
            </a:r>
            <a:r>
              <a:rPr lang="en-US" dirty="0"/>
              <a:t>) are two p-dimensional data objects, and q is a positive </a:t>
            </a:r>
            <a:r>
              <a:rPr lang="en-US" dirty="0" smtClean="0"/>
              <a:t>integer.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If q = 1, d is Manhattan distance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242" y="3008289"/>
            <a:ext cx="5821426" cy="7523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80" y="5066093"/>
            <a:ext cx="47244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6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and dissimilarity between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47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If q = 2, d is Euclidean distance</a:t>
            </a:r>
            <a:r>
              <a:rPr lang="en-US" sz="2400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Properties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d(</a:t>
            </a:r>
            <a:r>
              <a:rPr lang="en-US" sz="2400" dirty="0" err="1" smtClean="0"/>
              <a:t>i,j</a:t>
            </a:r>
            <a:r>
              <a:rPr lang="en-US" sz="2400" dirty="0"/>
              <a:t>) </a:t>
            </a:r>
            <a:r>
              <a:rPr lang="en-US" sz="2400" dirty="0" smtClean="0"/>
              <a:t>&gt;= </a:t>
            </a:r>
            <a:r>
              <a:rPr lang="en-US" sz="2400" dirty="0"/>
              <a:t>0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d(</a:t>
            </a:r>
            <a:r>
              <a:rPr lang="en-US" sz="2400" dirty="0" err="1" smtClean="0"/>
              <a:t>i,i</a:t>
            </a:r>
            <a:r>
              <a:rPr lang="en-US" sz="2400" dirty="0"/>
              <a:t>) = 0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d(</a:t>
            </a:r>
            <a:r>
              <a:rPr lang="en-US" sz="2400" dirty="0" err="1" smtClean="0"/>
              <a:t>i,j</a:t>
            </a:r>
            <a:r>
              <a:rPr lang="en-US" sz="2400" dirty="0"/>
              <a:t>) = d(</a:t>
            </a:r>
            <a:r>
              <a:rPr lang="en-US" sz="2400" dirty="0" err="1"/>
              <a:t>j,i</a:t>
            </a:r>
            <a:r>
              <a:rPr lang="en-US" sz="2400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d(</a:t>
            </a:r>
            <a:r>
              <a:rPr lang="en-US" sz="2400" dirty="0" err="1" smtClean="0"/>
              <a:t>i,j</a:t>
            </a:r>
            <a:r>
              <a:rPr lang="en-US" sz="2400" dirty="0"/>
              <a:t>) </a:t>
            </a:r>
            <a:r>
              <a:rPr lang="en-US" sz="2400" dirty="0" smtClean="0"/>
              <a:t>&lt;= </a:t>
            </a:r>
            <a:r>
              <a:rPr lang="en-US" sz="2400" dirty="0"/>
              <a:t>d(</a:t>
            </a:r>
            <a:r>
              <a:rPr lang="en-US" sz="2400" dirty="0" err="1"/>
              <a:t>i,k</a:t>
            </a:r>
            <a:r>
              <a:rPr lang="en-US" sz="2400" dirty="0"/>
              <a:t>) + d(</a:t>
            </a:r>
            <a:r>
              <a:rPr lang="en-US" sz="2400" dirty="0" err="1"/>
              <a:t>k,j</a:t>
            </a:r>
            <a:r>
              <a:rPr lang="en-US" sz="2400" dirty="0" smtClean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Also, one can use weighted distance, parametric Pearson product moment correlation, or other </a:t>
            </a:r>
            <a:r>
              <a:rPr lang="en-US" sz="2400" dirty="0" err="1"/>
              <a:t>disimilarity</a:t>
            </a:r>
            <a:r>
              <a:rPr lang="en-US" sz="2400" dirty="0"/>
              <a:t> measures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605" y="2247027"/>
            <a:ext cx="538162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1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Clustering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Partitioning approach: </a:t>
            </a: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Construct </a:t>
            </a:r>
            <a:r>
              <a:rPr lang="en-US" sz="2000" dirty="0"/>
              <a:t>various partitions and then evaluate them by some criterion, e.g., minimizing the sum of square errors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Typical </a:t>
            </a:r>
            <a:r>
              <a:rPr lang="en-US" sz="2000" dirty="0"/>
              <a:t>methods: k-means, k-</a:t>
            </a:r>
            <a:r>
              <a:rPr lang="en-US" sz="2000" dirty="0" err="1"/>
              <a:t>medoids</a:t>
            </a:r>
            <a:r>
              <a:rPr lang="en-US" sz="2000" dirty="0"/>
              <a:t>, CLARANS 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Hierarchical </a:t>
            </a:r>
            <a:r>
              <a:rPr lang="en-US" b="1" dirty="0"/>
              <a:t>approach</a:t>
            </a:r>
            <a:r>
              <a:rPr lang="en-US" b="1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Create </a:t>
            </a:r>
            <a:r>
              <a:rPr lang="en-US" sz="2000" dirty="0"/>
              <a:t>a hierarchical decomposition of the set of data (or objects) using some criterion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Typical </a:t>
            </a:r>
            <a:r>
              <a:rPr lang="en-US" sz="2000" dirty="0"/>
              <a:t>methods: </a:t>
            </a:r>
            <a:r>
              <a:rPr lang="en-US" sz="2000" dirty="0" smtClean="0"/>
              <a:t>Agglomerative, </a:t>
            </a:r>
            <a:r>
              <a:rPr lang="en-US" sz="2000" dirty="0"/>
              <a:t>Divisive, </a:t>
            </a:r>
            <a:r>
              <a:rPr lang="en-US" sz="2000" dirty="0" smtClean="0"/>
              <a:t>ROCK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Density-based </a:t>
            </a:r>
            <a:r>
              <a:rPr lang="en-US" b="1" dirty="0"/>
              <a:t>approach: </a:t>
            </a: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Based </a:t>
            </a:r>
            <a:r>
              <a:rPr lang="en-US" sz="2000" dirty="0"/>
              <a:t>on connectivity and density functions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Typical </a:t>
            </a:r>
            <a:r>
              <a:rPr lang="en-US" sz="2000" dirty="0"/>
              <a:t>methods: DBSACN, OPTICS, </a:t>
            </a:r>
            <a:r>
              <a:rPr lang="en-US" sz="2000" dirty="0" err="1"/>
              <a:t>DenClue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662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iterative algorithm that divides the unlabeled dataset into k different clusters in such a way that each dataset belongs only one group that has similar properties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Here K defines the number of pre-defined clusters that need to be created in the process, as if K=2, there will be two clusters, and for K=3, there will be three clusters, and so on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a centroid-based algorithm, where each cluster is associated with a centroid.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main aim of this algorithm is to minimize the sum of distances between the data point and their corresponding clusters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48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1527" y="2026276"/>
            <a:ext cx="83970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6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K-Means(Algorithm)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915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Step-1</a:t>
            </a:r>
            <a:r>
              <a:rPr lang="en-US" b="1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Choose the number of clusters K</a:t>
            </a:r>
            <a:r>
              <a:rPr lang="en-US" sz="2000" dirty="0" smtClean="0"/>
              <a:t>.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Step-2:</a:t>
            </a:r>
            <a:r>
              <a:rPr lang="en-US" dirty="0"/>
              <a:t> 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Randomly </a:t>
            </a:r>
            <a:r>
              <a:rPr lang="en-US" sz="2000" dirty="0"/>
              <a:t>select any K data points as cluster </a:t>
            </a:r>
            <a:r>
              <a:rPr lang="en-US" sz="2000" dirty="0" smtClean="0"/>
              <a:t>centers.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Select </a:t>
            </a:r>
            <a:r>
              <a:rPr lang="en-US" sz="2000" dirty="0"/>
              <a:t>cluster centers in such a way that they are as farther as possible from each other.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Step-3</a:t>
            </a:r>
            <a:r>
              <a:rPr lang="en-US" b="1" dirty="0"/>
              <a:t>:</a:t>
            </a:r>
            <a:r>
              <a:rPr lang="en-US" dirty="0"/>
              <a:t> 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Calculate </a:t>
            </a:r>
            <a:r>
              <a:rPr lang="en-US" sz="2000" dirty="0"/>
              <a:t>the distance between each data point and each cluster </a:t>
            </a:r>
            <a:r>
              <a:rPr lang="en-US" sz="2000" dirty="0" smtClean="0"/>
              <a:t>center.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dirty="0"/>
              <a:t>distance may be calculated either by using given distance function or by using </a:t>
            </a:r>
            <a:r>
              <a:rPr lang="en-US" sz="2000" dirty="0" err="1"/>
              <a:t>euclidean</a:t>
            </a:r>
            <a:r>
              <a:rPr lang="en-US" sz="2000" dirty="0"/>
              <a:t> distance formula.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Step-4: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000" dirty="0"/>
              <a:t>Assign each data point to some cluster.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000" dirty="0"/>
              <a:t>A data point is assigned to that cluster whose center is nearest to that data point.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7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K-Means(Algorithm)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Step-5: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000" dirty="0"/>
              <a:t>Re-compute the center of newly formed clusters.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000" dirty="0"/>
              <a:t>The center of a cluster is computed by taking mean of all the data points contained in that cluster</a:t>
            </a:r>
            <a:r>
              <a:rPr lang="en-US" sz="2000" dirty="0" smtClean="0"/>
              <a:t>.</a:t>
            </a:r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Step-6: </a:t>
            </a:r>
            <a:r>
              <a:rPr lang="en-US" dirty="0" smtClean="0"/>
              <a:t>Keep </a:t>
            </a:r>
            <a:r>
              <a:rPr lang="en-US" dirty="0"/>
              <a:t>repeating the procedure from </a:t>
            </a:r>
            <a:r>
              <a:rPr lang="en-US" dirty="0" smtClean="0"/>
              <a:t>Step-3 </a:t>
            </a:r>
            <a:r>
              <a:rPr lang="en-US" dirty="0"/>
              <a:t>to </a:t>
            </a:r>
            <a:r>
              <a:rPr lang="en-US" dirty="0" smtClean="0"/>
              <a:t>Step-5 </a:t>
            </a:r>
            <a:r>
              <a:rPr lang="en-US" dirty="0"/>
              <a:t>until any of the following stopping criteria is met-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000" dirty="0"/>
              <a:t>Center of newly formed clusters do not change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000" dirty="0"/>
              <a:t>Data points remain present in the same cluster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000" dirty="0"/>
              <a:t>Maximum number of iterations are </a:t>
            </a:r>
            <a:r>
              <a:rPr lang="en-US" sz="2000" dirty="0" smtClean="0"/>
              <a:t>reached</a:t>
            </a:r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83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6817324" cy="431036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K-Means Algorithm to create two </a:t>
            </a:r>
            <a:r>
              <a:rPr lang="en-US" dirty="0" smtClean="0"/>
              <a:t>clusters-</a:t>
            </a:r>
          </a:p>
          <a:p>
            <a:pPr marL="0" indent="0">
              <a:buNone/>
            </a:pPr>
            <a:r>
              <a:rPr lang="en-US" b="1" dirty="0" smtClean="0"/>
              <a:t>Solution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Assume C1=A(2</a:t>
            </a:r>
            <a:r>
              <a:rPr lang="en-US" dirty="0"/>
              <a:t>, 2) and </a:t>
            </a:r>
            <a:r>
              <a:rPr lang="en-US" dirty="0" smtClean="0"/>
              <a:t>C2=C(1</a:t>
            </a:r>
            <a:r>
              <a:rPr lang="en-US" dirty="0"/>
              <a:t>, 1) are centers of the two clusters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u="sng" dirty="0"/>
              <a:t>Iteration-01: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calculate the distance of each point from each of the center of the two clusters.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Calculating Distance Between A(2, 2) and C1(2, 2)-</a:t>
            </a:r>
            <a:endParaRPr lang="en-US" b="1" dirty="0"/>
          </a:p>
          <a:p>
            <a:pPr marL="201168" lvl="1" indent="0" fontAlgn="base">
              <a:buNone/>
            </a:pPr>
            <a:r>
              <a:rPr lang="es-ES" dirty="0"/>
              <a:t>Ρ(A, C1)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err="1"/>
              <a:t>sqrt</a:t>
            </a:r>
            <a:r>
              <a:rPr lang="es-ES" dirty="0"/>
              <a:t> [ (x2 – x1)</a:t>
            </a:r>
            <a:r>
              <a:rPr lang="es-ES" baseline="30000" dirty="0"/>
              <a:t>2</a:t>
            </a:r>
            <a:r>
              <a:rPr lang="es-ES" dirty="0"/>
              <a:t> + (y2 – y1)</a:t>
            </a:r>
            <a:r>
              <a:rPr lang="es-ES" baseline="30000" dirty="0"/>
              <a:t>2</a:t>
            </a:r>
            <a:r>
              <a:rPr lang="es-ES" dirty="0"/>
              <a:t> ]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err="1"/>
              <a:t>sqrt</a:t>
            </a:r>
            <a:r>
              <a:rPr lang="es-ES" dirty="0"/>
              <a:t> [ (2 – 2)</a:t>
            </a:r>
            <a:r>
              <a:rPr lang="es-ES" baseline="30000" dirty="0"/>
              <a:t>2</a:t>
            </a:r>
            <a:r>
              <a:rPr lang="es-ES" dirty="0"/>
              <a:t> + (2 – 2)</a:t>
            </a:r>
            <a:r>
              <a:rPr lang="es-ES" baseline="30000" dirty="0"/>
              <a:t>2</a:t>
            </a:r>
            <a:r>
              <a:rPr lang="es-ES" dirty="0"/>
              <a:t> ]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err="1"/>
              <a:t>sqrt</a:t>
            </a:r>
            <a:r>
              <a:rPr lang="es-ES" dirty="0"/>
              <a:t> [ 0 + 0 ]</a:t>
            </a:r>
          </a:p>
          <a:p>
            <a:pPr marL="201168" lvl="1" indent="0" fontAlgn="base">
              <a:buNone/>
            </a:pPr>
            <a:r>
              <a:rPr lang="es-ES" dirty="0"/>
              <a:t>= 0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04" y="2168010"/>
            <a:ext cx="3241076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54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u="sng" dirty="0"/>
              <a:t>Calculating Distance Between A(2, 2) and C2(1, 1)-</a:t>
            </a:r>
            <a:endParaRPr lang="en-US" b="1" dirty="0"/>
          </a:p>
          <a:p>
            <a:pPr marL="201168" lvl="1" indent="0" fontAlgn="base">
              <a:buNone/>
            </a:pPr>
            <a:r>
              <a:rPr lang="es-ES" dirty="0"/>
              <a:t>Ρ(A, C2)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err="1"/>
              <a:t>sqrt</a:t>
            </a:r>
            <a:r>
              <a:rPr lang="es-ES" dirty="0"/>
              <a:t> [ (x2 – x1)</a:t>
            </a:r>
            <a:r>
              <a:rPr lang="es-ES" baseline="30000" dirty="0"/>
              <a:t>2</a:t>
            </a:r>
            <a:r>
              <a:rPr lang="es-ES" dirty="0"/>
              <a:t> + (y2 – y1)</a:t>
            </a:r>
            <a:r>
              <a:rPr lang="es-ES" baseline="30000" dirty="0"/>
              <a:t>2</a:t>
            </a:r>
            <a:r>
              <a:rPr lang="es-ES" dirty="0"/>
              <a:t> ]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err="1"/>
              <a:t>sqrt</a:t>
            </a:r>
            <a:r>
              <a:rPr lang="es-ES" dirty="0"/>
              <a:t> [ (1 – 2)</a:t>
            </a:r>
            <a:r>
              <a:rPr lang="es-ES" baseline="30000" dirty="0"/>
              <a:t>2</a:t>
            </a:r>
            <a:r>
              <a:rPr lang="es-ES" dirty="0"/>
              <a:t> + (1 – 2)</a:t>
            </a:r>
            <a:r>
              <a:rPr lang="es-ES" baseline="30000" dirty="0"/>
              <a:t>2</a:t>
            </a:r>
            <a:r>
              <a:rPr lang="es-ES" dirty="0"/>
              <a:t> ]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err="1"/>
              <a:t>sqrt</a:t>
            </a:r>
            <a:r>
              <a:rPr lang="es-ES" dirty="0"/>
              <a:t> [ 1 + 1 ]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err="1"/>
              <a:t>sqrt</a:t>
            </a:r>
            <a:r>
              <a:rPr lang="es-ES" dirty="0"/>
              <a:t> [ 2 ]</a:t>
            </a:r>
          </a:p>
          <a:p>
            <a:pPr marL="201168" lvl="1" indent="0" fontAlgn="base">
              <a:buNone/>
            </a:pPr>
            <a:r>
              <a:rPr lang="es-ES" dirty="0"/>
              <a:t>= </a:t>
            </a:r>
            <a:r>
              <a:rPr lang="es-ES" dirty="0" smtClean="0"/>
              <a:t>1.41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In the similar manner, we calculate the distance of other points from each of the center of the two clusters.</a:t>
            </a:r>
            <a:endParaRPr lang="es-E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841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dirty="0" smtClean="0"/>
              <a:t>Next, We </a:t>
            </a:r>
            <a:r>
              <a:rPr lang="en-US" dirty="0"/>
              <a:t>draw a table showing all the results.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Using the table, we decide which point belongs to which cluster.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The given point belongs to that cluster whose center is nearest to it.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80" y="3224280"/>
            <a:ext cx="65532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52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9156"/>
          </a:xfrm>
        </p:spPr>
        <p:txBody>
          <a:bodyPr>
            <a:normAutofit fontScale="85000" lnSpcReduction="20000"/>
          </a:bodyPr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sz="2400" dirty="0" smtClean="0"/>
              <a:t>Now, </a:t>
            </a:r>
            <a:r>
              <a:rPr lang="en-US" sz="2400" dirty="0"/>
              <a:t>New clusters </a:t>
            </a:r>
            <a:r>
              <a:rPr lang="en-US" sz="2400" dirty="0" smtClean="0"/>
              <a:t>are-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400" b="1" dirty="0" smtClean="0"/>
              <a:t>Cluster-01: </a:t>
            </a:r>
            <a:r>
              <a:rPr lang="en-US" sz="2400" dirty="0" smtClean="0"/>
              <a:t>(</a:t>
            </a:r>
            <a:r>
              <a:rPr lang="pt-BR" sz="2400" dirty="0" smtClean="0"/>
              <a:t>A(2</a:t>
            </a:r>
            <a:r>
              <a:rPr lang="pt-BR" sz="2400" dirty="0"/>
              <a:t>, </a:t>
            </a:r>
            <a:r>
              <a:rPr lang="pt-BR" sz="2400" dirty="0" smtClean="0"/>
              <a:t>2), B(3</a:t>
            </a:r>
            <a:r>
              <a:rPr lang="pt-BR" sz="2400" dirty="0"/>
              <a:t>, 2</a:t>
            </a:r>
            <a:r>
              <a:rPr lang="pt-BR" sz="2400" dirty="0" smtClean="0"/>
              <a:t>), E(1.5</a:t>
            </a:r>
            <a:r>
              <a:rPr lang="pt-BR" sz="2400" dirty="0"/>
              <a:t>, 0.5</a:t>
            </a:r>
            <a:r>
              <a:rPr lang="pt-BR" sz="2400" dirty="0" smtClean="0"/>
              <a:t>), D(3</a:t>
            </a:r>
            <a:r>
              <a:rPr lang="pt-BR" sz="2400" dirty="0"/>
              <a:t>, 1</a:t>
            </a:r>
            <a:r>
              <a:rPr lang="pt-BR" sz="2400" dirty="0" smtClean="0"/>
              <a:t>))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400" b="1" dirty="0"/>
              <a:t>Cluster-02</a:t>
            </a:r>
            <a:r>
              <a:rPr lang="en-US" sz="2400" b="1" dirty="0" smtClean="0"/>
              <a:t>: </a:t>
            </a:r>
            <a:r>
              <a:rPr lang="en-US" sz="2400" dirty="0" smtClean="0"/>
              <a:t>(</a:t>
            </a:r>
            <a:r>
              <a:rPr lang="en-US" sz="2400" dirty="0"/>
              <a:t>C(1, </a:t>
            </a:r>
            <a:r>
              <a:rPr lang="en-US" sz="2400" dirty="0" smtClean="0"/>
              <a:t>1), E(1.5</a:t>
            </a:r>
            <a:r>
              <a:rPr lang="en-US" sz="2400" dirty="0"/>
              <a:t>, 0.5</a:t>
            </a:r>
            <a:r>
              <a:rPr lang="en-US" sz="2400" dirty="0" smtClean="0"/>
              <a:t>))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400" dirty="0"/>
              <a:t>Now,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400" dirty="0"/>
              <a:t>We re-compute the new cluster clusters.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sz="2400" dirty="0"/>
              <a:t>The new cluster center is computed by taking mean of all the points contained in that cluster</a:t>
            </a:r>
            <a:r>
              <a:rPr lang="en-US" sz="2400" dirty="0" smtClean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400" b="1" dirty="0"/>
              <a:t>For </a:t>
            </a:r>
            <a:r>
              <a:rPr lang="en-US" sz="2400" b="1" dirty="0" smtClean="0"/>
              <a:t>Cluster-01: </a:t>
            </a:r>
            <a:r>
              <a:rPr lang="en-US" sz="2400" dirty="0" smtClean="0"/>
              <a:t>Center </a:t>
            </a:r>
            <a:r>
              <a:rPr lang="en-US" sz="2400" dirty="0"/>
              <a:t>of Cluster-01</a:t>
            </a:r>
          </a:p>
          <a:p>
            <a:pPr marL="384048" lvl="2" indent="0" fontAlgn="base">
              <a:buNone/>
            </a:pPr>
            <a:r>
              <a:rPr lang="en-US" sz="2400" dirty="0"/>
              <a:t>= ((2 + 3 + 3)/3, (2 + 2 + 1)/3)</a:t>
            </a:r>
          </a:p>
          <a:p>
            <a:pPr marL="384048" lvl="2" indent="0" fontAlgn="base">
              <a:buNone/>
            </a:pPr>
            <a:r>
              <a:rPr lang="en-US" sz="2400" dirty="0"/>
              <a:t>= (2.67, 1.67</a:t>
            </a:r>
            <a:r>
              <a:rPr lang="en-US" sz="2400" dirty="0" smtClean="0"/>
              <a:t>)</a:t>
            </a:r>
            <a:r>
              <a:rPr lang="en-US" sz="2400" dirty="0"/>
              <a:t> 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400" b="1" dirty="0"/>
              <a:t>For </a:t>
            </a:r>
            <a:r>
              <a:rPr lang="en-US" sz="2400" b="1" dirty="0" smtClean="0"/>
              <a:t>Cluster-02: </a:t>
            </a:r>
            <a:r>
              <a:rPr lang="en-US" sz="2400" dirty="0" smtClean="0"/>
              <a:t>Center </a:t>
            </a:r>
            <a:r>
              <a:rPr lang="en-US" sz="2400" dirty="0"/>
              <a:t>of Cluster-02</a:t>
            </a:r>
          </a:p>
          <a:p>
            <a:pPr marL="384048" lvl="2" indent="0" fontAlgn="base">
              <a:buNone/>
            </a:pPr>
            <a:r>
              <a:rPr lang="en-US" sz="2400" dirty="0"/>
              <a:t>= ((1 + 1.5)/2, (1 + 0.5)/2)</a:t>
            </a:r>
          </a:p>
          <a:p>
            <a:pPr marL="384048" lvl="2" indent="0" fontAlgn="base">
              <a:buNone/>
            </a:pPr>
            <a:r>
              <a:rPr lang="en-US" sz="2400" dirty="0"/>
              <a:t>= (1.25, 0.75</a:t>
            </a:r>
            <a:r>
              <a:rPr lang="en-US" sz="2400" dirty="0" smtClean="0"/>
              <a:t>)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400" dirty="0"/>
              <a:t>This is completion of </a:t>
            </a:r>
            <a:r>
              <a:rPr lang="en-US" sz="2400" dirty="0" smtClean="0"/>
              <a:t>Iteration-01. Next</a:t>
            </a:r>
            <a:r>
              <a:rPr lang="en-US" sz="2400" dirty="0"/>
              <a:t>, we go to iteration-02, iteration-03 and so on until the centers do not change anymore.</a:t>
            </a:r>
          </a:p>
          <a:p>
            <a:pPr fontAlgn="base">
              <a:buFont typeface="Wingdings" panose="05000000000000000000" pitchFamily="2" charset="2"/>
              <a:buChar char="Ø"/>
            </a:pPr>
            <a:endParaRPr lang="en-US" sz="2600" dirty="0"/>
          </a:p>
          <a:p>
            <a:pPr fontAlgn="base">
              <a:buFont typeface="Wingdings" panose="05000000000000000000" pitchFamily="2" charset="2"/>
              <a:buChar char="Ø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fontAlgn="base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fontAlgn="base"/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endParaRPr lang="en-US" b="1" dirty="0"/>
          </a:p>
          <a:p>
            <a:pPr fontAlgn="base"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623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K-Means(Exercise)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Cluster the following eight points (with (x, y) representing locations) into three clusters:</a:t>
            </a:r>
          </a:p>
          <a:p>
            <a:pPr fontAlgn="base"/>
            <a:r>
              <a:rPr lang="en-US" dirty="0"/>
              <a:t>A1(2, 10), A2(2, 5), A3(8, 4), A4(5, 8), A5(7, 5), A6(6, 4), A7(1, 2), A8(4, 9</a:t>
            </a:r>
            <a:r>
              <a:rPr lang="en-US" dirty="0" smtClean="0"/>
              <a:t>)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Initial cluster centers are: A1(2, 10), A4(5, 8) and A7(1, 2).</a:t>
            </a:r>
          </a:p>
          <a:p>
            <a:pPr fontAlgn="base"/>
            <a:r>
              <a:rPr lang="en-US" dirty="0"/>
              <a:t>The distance function between two points a = (x1, y1) and b = (x2, y2) is defined as-</a:t>
            </a:r>
          </a:p>
          <a:p>
            <a:pPr marL="201168" lvl="1" indent="0" fontAlgn="base">
              <a:buNone/>
            </a:pPr>
            <a:r>
              <a:rPr lang="en-US" dirty="0"/>
              <a:t>Ρ(a, b) = |x2 – x1| + |y2 – y1</a:t>
            </a:r>
            <a:r>
              <a:rPr lang="en-US" dirty="0" smtClean="0"/>
              <a:t>|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Use K-Means Algorithm to find the three cluster centers after the second iteration.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674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5885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Advantages: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b="1" dirty="0"/>
              <a:t> </a:t>
            </a:r>
            <a:r>
              <a:rPr lang="en-US" dirty="0"/>
              <a:t>easy to implement k-means and identify unknown groups of data from complex data sets</a:t>
            </a:r>
            <a:r>
              <a:rPr lang="en-US" dirty="0" smtClean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often terminates at local optimum</a:t>
            </a:r>
            <a:r>
              <a:rPr lang="en-US" dirty="0" smtClean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Better computation cost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Disadvantages: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It requires to specify the number of clusters (k) in advance.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It can not handle noisy data and outliers</a:t>
            </a:r>
            <a:r>
              <a:rPr lang="en-US" dirty="0" smtClean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Centroids get dragged due to outliers in the dataset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Always tries to find circular </a:t>
            </a:r>
            <a:r>
              <a:rPr lang="en-US" dirty="0" smtClean="0"/>
              <a:t>clusters</a:t>
            </a: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It is not suitable to identify clusters with non-convex shapes.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1739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</a:t>
            </a:r>
            <a:r>
              <a:rPr lang="en-US" dirty="0" smtClean="0"/>
              <a:t>K-means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767159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 it is sensitive to the initialization of the centroids or the mean points.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So</a:t>
            </a:r>
            <a:r>
              <a:rPr lang="en-US" dirty="0"/>
              <a:t>, if a centroid is initialized to be a “far-off” point, it might just end up with no points associated with it, and at the same time, more than one cluster might end up linked with a single centroid.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Similarly</a:t>
            </a:r>
            <a:r>
              <a:rPr lang="en-US" dirty="0"/>
              <a:t>, more than one centroids might be initialized into the same cluster resulting in poor clustering.</a:t>
            </a:r>
          </a:p>
        </p:txBody>
      </p:sp>
      <p:pic>
        <p:nvPicPr>
          <p:cNvPr id="2050" name="Picture 2" descr="https://media.geeksforgeeks.org/wp-content/uploads/20190812011808/Screenshot-2019-08-12-at-1.13.15-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956" y="2009104"/>
            <a:ext cx="4069724" cy="331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020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K-means++ is a smart centroid initialization method for the K-mean algorithm.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goal is to spread out the initial centroid by assigning the first centroid randomly then selecting the rest of the centroids based on the maximum squared distance.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idea is to push the centroids as far as possible from one another.</a:t>
            </a:r>
          </a:p>
        </p:txBody>
      </p:sp>
    </p:spTree>
    <p:extLst>
      <p:ext uri="{BB962C8B-B14F-4D97-AF65-F5344CB8AC3E}">
        <p14:creationId xmlns:p14="http://schemas.microsoft.com/office/powerpoint/2010/main" val="1148760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  <a:r>
              <a:rPr lang="en-US" dirty="0" smtClean="0"/>
              <a:t>++(Algorithm)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Randomly pick the first centroid (C1)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Calculate the distance between all data points and the selected </a:t>
            </a:r>
            <a:r>
              <a:rPr lang="en-US" dirty="0" smtClean="0"/>
              <a:t>centroid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201168" lvl="1" indent="0">
              <a:buNone/>
            </a:pPr>
            <a:r>
              <a:rPr lang="en-US" dirty="0" smtClean="0"/>
              <a:t>	This </a:t>
            </a:r>
            <a:r>
              <a:rPr lang="en-US" dirty="0"/>
              <a:t>denotes the distance of a data point 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dirty="0"/>
              <a:t> from the farthest centroid </a:t>
            </a:r>
            <a:r>
              <a:rPr lang="en-US" i="1" dirty="0" err="1"/>
              <a:t>C</a:t>
            </a:r>
            <a:r>
              <a:rPr lang="en-US" i="1" baseline="-25000" dirty="0" err="1"/>
              <a:t>j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Initialize the data point </a:t>
            </a:r>
            <a:r>
              <a:rPr lang="en-US" i="1" dirty="0"/>
              <a:t>x</a:t>
            </a:r>
            <a:r>
              <a:rPr lang="en-US" i="1" baseline="-25000" dirty="0"/>
              <a:t>i </a:t>
            </a:r>
            <a:r>
              <a:rPr lang="en-US" dirty="0"/>
              <a:t>as the new centroid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Repeat steps 3 and 4 till all the defined K clusters are found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26" name="Picture 2" descr="The distance between all data points and the selected centroi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61" y="2706632"/>
            <a:ext cx="3267075" cy="78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010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Mini-Batch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717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traditional K-means, the algorithm processes the entire dataset in each iteration, which can be computationally expensive for large datasets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Mini-batch K-means addresses this issue by processing only a small subset of the data, called a mini-batch, in each iteration.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mini-batch is randomly sampled from the dataset, and the algorithm updates the cluster centroids based on the data in the mini-batch.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This </a:t>
            </a:r>
            <a:r>
              <a:rPr lang="en-US" dirty="0"/>
              <a:t>allows the algorithm to converge faster and use less memory than traditional K-means.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Main </a:t>
            </a:r>
            <a:r>
              <a:rPr lang="en-US" dirty="0"/>
              <a:t>idea is to use small random batches of data of a fixed size, so they can be stored in memory.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Each </a:t>
            </a:r>
            <a:r>
              <a:rPr lang="en-US" dirty="0"/>
              <a:t>iteration a new random sample from the dataset is obtained and used to update the clusters and this is repeated until convergence.</a:t>
            </a:r>
          </a:p>
        </p:txBody>
      </p:sp>
    </p:spTree>
    <p:extLst>
      <p:ext uri="{BB962C8B-B14F-4D97-AF65-F5344CB8AC3E}">
        <p14:creationId xmlns:p14="http://schemas.microsoft.com/office/powerpoint/2010/main" val="306850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</a:t>
            </a:r>
            <a:r>
              <a:rPr lang="en-US" dirty="0" err="1"/>
              <a:t>M</a:t>
            </a:r>
            <a:r>
              <a:rPr lang="en-US" dirty="0" err="1" smtClean="0"/>
              <a:t>edoids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dirty="0" err="1"/>
              <a:t>medoid</a:t>
            </a:r>
            <a:r>
              <a:rPr lang="en-US" dirty="0"/>
              <a:t> can be defined as a point in the cluster, whose dissimilarities with all the other points in the cluster are minimum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dissimilarity of the </a:t>
            </a:r>
            <a:r>
              <a:rPr lang="en-US" dirty="0" err="1" smtClean="0"/>
              <a:t>medoid</a:t>
            </a:r>
            <a:r>
              <a:rPr lang="en-US" dirty="0" smtClean="0"/>
              <a:t>(C</a:t>
            </a:r>
            <a:r>
              <a:rPr lang="en-US" baseline="-25000" dirty="0" smtClean="0"/>
              <a:t>i</a:t>
            </a:r>
            <a:r>
              <a:rPr lang="en-US" dirty="0"/>
              <a:t>) and object(P</a:t>
            </a:r>
            <a:r>
              <a:rPr lang="en-US" baseline="-25000" dirty="0"/>
              <a:t>i</a:t>
            </a:r>
            <a:r>
              <a:rPr lang="en-US" dirty="0"/>
              <a:t>) is calculated by using E = |P</a:t>
            </a:r>
            <a:r>
              <a:rPr lang="en-US" baseline="-25000" dirty="0"/>
              <a:t>i</a:t>
            </a:r>
            <a:r>
              <a:rPr lang="en-US" dirty="0"/>
              <a:t> – C</a:t>
            </a:r>
            <a:r>
              <a:rPr lang="en-US" baseline="-25000" dirty="0"/>
              <a:t>i</a:t>
            </a:r>
            <a:r>
              <a:rPr lang="en-US" dirty="0" smtClean="0"/>
              <a:t>|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The cost in K-</a:t>
            </a:r>
            <a:r>
              <a:rPr lang="en-US" i="1" dirty="0" err="1"/>
              <a:t>Medoids</a:t>
            </a:r>
            <a:r>
              <a:rPr lang="en-US" i="1" dirty="0"/>
              <a:t> algorithm is given as</a:t>
            </a:r>
            <a:endParaRPr lang="en-US" dirty="0"/>
          </a:p>
        </p:txBody>
      </p:sp>
      <p:sp>
        <p:nvSpPr>
          <p:cNvPr id="4" name="AutoShape 2" descr="$$c = \sum_{Ci}\sum_{Pi{\in}Ci}|Pi - Ci|$$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883" y="3590714"/>
            <a:ext cx="3026803" cy="80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07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</a:t>
            </a:r>
            <a:r>
              <a:rPr lang="en-US" dirty="0" err="1" smtClean="0"/>
              <a:t>Medoids</a:t>
            </a:r>
            <a:r>
              <a:rPr lang="en-US" dirty="0" smtClean="0"/>
              <a:t>(Algorithm)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Initialize: select </a:t>
            </a:r>
            <a:r>
              <a:rPr lang="en-US" i="1" dirty="0"/>
              <a:t>k</a:t>
            </a:r>
            <a:r>
              <a:rPr lang="en-US" dirty="0"/>
              <a:t> random points out of the </a:t>
            </a:r>
            <a:r>
              <a:rPr lang="en-US" i="1" dirty="0"/>
              <a:t>n </a:t>
            </a:r>
            <a:r>
              <a:rPr lang="en-US" dirty="0"/>
              <a:t>data points as the </a:t>
            </a:r>
            <a:r>
              <a:rPr lang="en-US" dirty="0" err="1"/>
              <a:t>medoids</a:t>
            </a:r>
            <a:r>
              <a:rPr lang="en-US" dirty="0"/>
              <a:t>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Associate each data point to the closest </a:t>
            </a:r>
            <a:r>
              <a:rPr lang="en-US" dirty="0" err="1"/>
              <a:t>medoid</a:t>
            </a:r>
            <a:r>
              <a:rPr lang="en-US" dirty="0"/>
              <a:t> by using any common distance metric methods.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While the cost decreases: For each </a:t>
            </a:r>
            <a:r>
              <a:rPr lang="en-US" dirty="0" err="1"/>
              <a:t>medoid</a:t>
            </a:r>
            <a:r>
              <a:rPr lang="en-US" dirty="0"/>
              <a:t> m, for each data o point which is not a </a:t>
            </a:r>
            <a:r>
              <a:rPr lang="en-US" dirty="0" err="1"/>
              <a:t>medoid</a:t>
            </a:r>
            <a:r>
              <a:rPr lang="en-US" dirty="0"/>
              <a:t>: 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dirty="0"/>
              <a:t>Swap m and o, associate each data point to the closest </a:t>
            </a:r>
            <a:r>
              <a:rPr lang="en-US" dirty="0" err="1"/>
              <a:t>medoid</a:t>
            </a:r>
            <a:r>
              <a:rPr lang="en-US" dirty="0"/>
              <a:t>, and </a:t>
            </a:r>
            <a:r>
              <a:rPr lang="en-US" dirty="0" err="1"/>
              <a:t>recompute</a:t>
            </a:r>
            <a:r>
              <a:rPr lang="en-US" dirty="0"/>
              <a:t> the cost. 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dirty="0"/>
              <a:t>If the total cost is more than that in the previous step, undo the swap.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479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</a:t>
            </a:r>
            <a:r>
              <a:rPr lang="en-US" dirty="0" err="1" smtClean="0"/>
              <a:t>Medoids</a:t>
            </a:r>
            <a:r>
              <a:rPr lang="en-US" dirty="0" smtClean="0"/>
              <a:t>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4762"/>
          </a:xfrm>
        </p:spPr>
        <p:txBody>
          <a:bodyPr/>
          <a:lstStyle/>
          <a:p>
            <a:r>
              <a:rPr lang="en-US" dirty="0"/>
              <a:t>Let’s consider </a:t>
            </a:r>
            <a:r>
              <a:rPr lang="en-US" dirty="0" smtClean="0"/>
              <a:t>the </a:t>
            </a:r>
            <a:r>
              <a:rPr lang="en-US" dirty="0"/>
              <a:t>example: 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Step 1:</a:t>
            </a:r>
            <a:r>
              <a:rPr lang="en-US" dirty="0"/>
              <a:t> Let the randomly selected 2 </a:t>
            </a:r>
            <a:r>
              <a:rPr lang="en-US" dirty="0" err="1"/>
              <a:t>medoids</a:t>
            </a:r>
            <a:r>
              <a:rPr lang="en-US" dirty="0"/>
              <a:t>, so select k = 2, and let </a:t>
            </a:r>
            <a:r>
              <a:rPr lang="en-US" b="1" dirty="0"/>
              <a:t>C1 -(4, 5)</a:t>
            </a:r>
            <a:r>
              <a:rPr lang="en-US" dirty="0"/>
              <a:t> and </a:t>
            </a:r>
            <a:r>
              <a:rPr lang="en-US" b="1" dirty="0"/>
              <a:t>C2 -(8, 5)</a:t>
            </a:r>
            <a:r>
              <a:rPr lang="en-US" dirty="0"/>
              <a:t> are the two </a:t>
            </a:r>
            <a:r>
              <a:rPr lang="en-US" dirty="0" err="1"/>
              <a:t>medoids</a:t>
            </a:r>
            <a:r>
              <a:rPr lang="en-US" dirty="0"/>
              <a:t>. </a:t>
            </a:r>
          </a:p>
        </p:txBody>
      </p:sp>
      <p:pic>
        <p:nvPicPr>
          <p:cNvPr id="4098" name="Picture 2" descr="https://media.geeksforgeeks.org/wp-content/cdn-uploads/20200807084217/Screenshot-2020-08-07-at-1.12.02-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240" y="2013160"/>
            <a:ext cx="3733800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966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</a:t>
            </a:r>
            <a:r>
              <a:rPr lang="en-US" dirty="0" err="1"/>
              <a:t>Medoids</a:t>
            </a:r>
            <a:r>
              <a:rPr lang="en-US" dirty="0"/>
              <a:t>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780038" cy="4400520"/>
          </a:xfrm>
        </p:spPr>
        <p:txBody>
          <a:bodyPr>
            <a:normAutofit fontScale="92500" lnSpcReduction="10000"/>
          </a:bodyPr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sz="2200" b="1" dirty="0"/>
              <a:t>Step 2: Calculating cost.</a:t>
            </a:r>
            <a:r>
              <a:rPr lang="en-US" sz="2200" dirty="0"/>
              <a:t> The dissimilarity of each non-</a:t>
            </a:r>
            <a:r>
              <a:rPr lang="en-US" sz="2200" dirty="0" err="1"/>
              <a:t>medoid</a:t>
            </a:r>
            <a:r>
              <a:rPr lang="en-US" sz="2200" dirty="0"/>
              <a:t> point with the </a:t>
            </a:r>
            <a:r>
              <a:rPr lang="en-US" sz="2200" dirty="0" err="1"/>
              <a:t>medoids</a:t>
            </a:r>
            <a:r>
              <a:rPr lang="en-US" sz="2200" dirty="0"/>
              <a:t> is calculated and tabulated: </a:t>
            </a:r>
            <a:endParaRPr lang="en-US" sz="2200" dirty="0" smtClean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200" dirty="0"/>
              <a:t>Here we have used Manhattan distance formula to calculate the distance matrices between </a:t>
            </a:r>
            <a:r>
              <a:rPr lang="en-US" sz="2200" dirty="0" err="1"/>
              <a:t>medoid</a:t>
            </a:r>
            <a:r>
              <a:rPr lang="en-US" sz="2200" dirty="0"/>
              <a:t> and non-</a:t>
            </a:r>
            <a:r>
              <a:rPr lang="en-US" sz="2200" dirty="0" err="1"/>
              <a:t>medoid</a:t>
            </a:r>
            <a:r>
              <a:rPr lang="en-US" sz="2200" dirty="0"/>
              <a:t> points. That formula tell that  </a:t>
            </a:r>
            <a:r>
              <a:rPr lang="en-US" sz="2200" b="1" dirty="0"/>
              <a:t>Distance = |X1-X2| + |Y1-Y2|.</a:t>
            </a:r>
            <a:endParaRPr lang="en-US" sz="2200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200" dirty="0"/>
              <a:t> Each point is assigned to the cluster of that </a:t>
            </a:r>
            <a:r>
              <a:rPr lang="en-US" sz="2200" dirty="0" err="1"/>
              <a:t>medoid</a:t>
            </a:r>
            <a:r>
              <a:rPr lang="en-US" sz="2200" dirty="0"/>
              <a:t> whose dissimilarity is less. Points 1, 2, and 5 go to cluster C1 and 0, 3, 6, 7, 8 go to cluster C2. The Cost = (3 + 4 + 4) + (3 + 1 + 1 + 2 + 2) = 20</a:t>
            </a:r>
          </a:p>
          <a:p>
            <a:pPr fontAlgn="base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 descr="https://media.geeksforgeeks.org/wp-content/cdn-uploads/20200807084504/Screenshot-2020-08-07-at-1.14.56-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532" y="2171488"/>
            <a:ext cx="4134119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026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</a:t>
            </a:r>
            <a:r>
              <a:rPr lang="en-US" dirty="0" err="1"/>
              <a:t>Medoids</a:t>
            </a:r>
            <a:r>
              <a:rPr lang="en-US" dirty="0"/>
              <a:t>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831554" cy="452930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Step 3: randomly select one non-</a:t>
            </a:r>
            <a:r>
              <a:rPr lang="en-US" b="1" dirty="0" err="1"/>
              <a:t>medoid</a:t>
            </a:r>
            <a:r>
              <a:rPr lang="en-US" b="1" dirty="0"/>
              <a:t> point and recalculate the cost.</a:t>
            </a:r>
            <a:r>
              <a:rPr lang="en-US" dirty="0"/>
              <a:t> Let the randomly selected point be (8, 4). The dissimilarity of each non-</a:t>
            </a:r>
            <a:r>
              <a:rPr lang="en-US" dirty="0" err="1"/>
              <a:t>medoid</a:t>
            </a:r>
            <a:r>
              <a:rPr lang="en-US" dirty="0"/>
              <a:t> point with the </a:t>
            </a:r>
            <a:r>
              <a:rPr lang="en-US" dirty="0" err="1"/>
              <a:t>medoids</a:t>
            </a:r>
            <a:r>
              <a:rPr lang="en-US" dirty="0"/>
              <a:t> – C1 (4, 5) and C2 (8, 4) is calculated and tabulated. 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point is assigned to that cluster whose dissimilarity is less. So, points 1, 2, and 5 go to cluster C1 and 0, 3, 6, 7, 8 go to cluster C2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New cost = (3 + 4 + 4) + (2 + 2 + 1 + 3 + 3) = 22 Swap Cost = New Cost – Previous Cost = 22 – 20 and </a:t>
            </a:r>
            <a:r>
              <a:rPr lang="en-US" b="1" dirty="0"/>
              <a:t>2 &gt;0</a:t>
            </a:r>
            <a:r>
              <a:rPr lang="en-US" dirty="0"/>
              <a:t> As the swap cost is not less than zero, we undo the swap. 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Hence (4, 5) and (8, 5) are the final </a:t>
            </a:r>
            <a:r>
              <a:rPr lang="en-US" dirty="0" err="1"/>
              <a:t>medoids</a:t>
            </a:r>
            <a:r>
              <a:rPr lang="en-US" dirty="0"/>
              <a:t>.</a:t>
            </a:r>
          </a:p>
        </p:txBody>
      </p:sp>
      <p:pic>
        <p:nvPicPr>
          <p:cNvPr id="6146" name="Picture 2" descr="https://media.geeksforgeeks.org/wp-content/cdn-uploads/20200807091657/Screenshot-2020-08-07-at-1.46.48-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986" y="2254115"/>
            <a:ext cx="4391696" cy="351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635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</a:t>
            </a:r>
            <a:r>
              <a:rPr lang="en-US" dirty="0" err="1" smtClean="0"/>
              <a:t>Medoids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4218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Advantages:</a:t>
            </a: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It is simple to understand and easy to implement.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K-</a:t>
            </a:r>
            <a:r>
              <a:rPr lang="en-US" dirty="0" err="1"/>
              <a:t>Medoid</a:t>
            </a:r>
            <a:r>
              <a:rPr lang="en-US" dirty="0"/>
              <a:t> Algorithm is fast and converges in a fixed number of steps.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PAM(Partitioning Around </a:t>
            </a:r>
            <a:r>
              <a:rPr lang="en-US" dirty="0" err="1" smtClean="0"/>
              <a:t>Medoids</a:t>
            </a:r>
            <a:r>
              <a:rPr lang="en-US" dirty="0" smtClean="0"/>
              <a:t>) </a:t>
            </a:r>
            <a:r>
              <a:rPr lang="en-US" dirty="0"/>
              <a:t>is less sensitive to outliers than other partitioning algorithms.</a:t>
            </a:r>
          </a:p>
          <a:p>
            <a:pPr marL="0" indent="0" fontAlgn="base">
              <a:buNone/>
            </a:pPr>
            <a:r>
              <a:rPr lang="en-US" b="1" dirty="0"/>
              <a:t>Disadvantages:</a:t>
            </a: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The main disadvantage of K-</a:t>
            </a:r>
            <a:r>
              <a:rPr lang="en-US" dirty="0" err="1"/>
              <a:t>Medoid</a:t>
            </a:r>
            <a:r>
              <a:rPr lang="en-US" dirty="0"/>
              <a:t> algorithms is that it is not suitable for clustering non-spherical (arbitrarily shaped) groups of objects. This is because it relies on minimizing the distances between the non-</a:t>
            </a:r>
            <a:r>
              <a:rPr lang="en-US" dirty="0" err="1"/>
              <a:t>medoid</a:t>
            </a:r>
            <a:r>
              <a:rPr lang="en-US" dirty="0"/>
              <a:t> objects and the </a:t>
            </a:r>
            <a:r>
              <a:rPr lang="en-US" dirty="0" err="1"/>
              <a:t>medoid</a:t>
            </a:r>
            <a:r>
              <a:rPr lang="en-US" dirty="0"/>
              <a:t> (the cluster center</a:t>
            </a:r>
            <a:r>
              <a:rPr lang="en-US" dirty="0" smtClean="0"/>
              <a:t>).</a:t>
            </a:r>
            <a:endParaRPr lang="en-US" dirty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It may obtain different results for different runs on the same dataset because the first k </a:t>
            </a:r>
            <a:r>
              <a:rPr lang="en-US" dirty="0" err="1"/>
              <a:t>medoids</a:t>
            </a:r>
            <a:r>
              <a:rPr lang="en-US" dirty="0"/>
              <a:t> are chosen randomly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819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4994427" cy="42202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this method, a hierarchical decomposition of the given set of data objects is created.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Use </a:t>
            </a:r>
            <a:r>
              <a:rPr lang="en-US" dirty="0"/>
              <a:t>distance matrix as clustering criteria.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This </a:t>
            </a:r>
            <a:r>
              <a:rPr lang="en-US" dirty="0"/>
              <a:t>method does not require the number of clusters k as an input, but needs a termination condition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There are two types of approaches for the creation of hierarchical decomposition, they are: 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b="1" dirty="0"/>
              <a:t>Agglomerative Approach: </a:t>
            </a:r>
            <a:endParaRPr lang="en-US" dirty="0"/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b="1" dirty="0"/>
              <a:t>Divisive Approach: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45732"/>
            <a:ext cx="5241701" cy="422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14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Dendrogram</a:t>
            </a:r>
            <a:r>
              <a:rPr lang="en-US" dirty="0"/>
              <a:t>: Shows How the Clusters are Merged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Decompose data objects into a several levels of nested partitioning (tree of clusters), called a </a:t>
            </a:r>
            <a:r>
              <a:rPr lang="en-US" dirty="0" err="1"/>
              <a:t>dendrogram</a:t>
            </a:r>
            <a:r>
              <a:rPr lang="en-US" dirty="0"/>
              <a:t>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 </a:t>
            </a:r>
            <a:r>
              <a:rPr lang="en-US" dirty="0"/>
              <a:t>clustering of the data objects is obtained by cutting the </a:t>
            </a:r>
            <a:r>
              <a:rPr lang="en-US" dirty="0" err="1"/>
              <a:t>dendrogram</a:t>
            </a:r>
            <a:r>
              <a:rPr lang="en-US" dirty="0"/>
              <a:t> at the desired level, then each connected component forms a cluster.</a:t>
            </a:r>
          </a:p>
        </p:txBody>
      </p:sp>
      <p:pic>
        <p:nvPicPr>
          <p:cNvPr id="7170" name="Picture 2" descr="https://miro.medium.com/max/740/1*VvOVxdBb74IOxxF2RmthC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663" y="3280440"/>
            <a:ext cx="7048500" cy="258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826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Agglomerative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The agglomerative approach is also known as the bottom-up approach. </a:t>
            </a:r>
            <a:endParaRPr lang="en-US" dirty="0" smtClean="0"/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</a:t>
            </a:r>
            <a:r>
              <a:rPr lang="en-US" dirty="0" smtClean="0"/>
              <a:t>nitially</a:t>
            </a:r>
            <a:r>
              <a:rPr lang="en-US" dirty="0"/>
              <a:t>, each data point is a cluster of its own, further pairs of clusters are merged as one moves up the hierarchy</a:t>
            </a:r>
            <a:r>
              <a:rPr lang="en-US" dirty="0" smtClean="0"/>
              <a:t>.</a:t>
            </a:r>
            <a:endParaRPr lang="en-US" b="1" dirty="0" smtClean="0"/>
          </a:p>
          <a:p>
            <a:pPr marL="0" indent="0" fontAlgn="base">
              <a:buNone/>
            </a:pPr>
            <a:r>
              <a:rPr lang="en-US" b="1" dirty="0" smtClean="0"/>
              <a:t>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Initially, all the data-points are a cluster of its own.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Take two nearest clusters and join them to form one single cluster.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Proceed recursively step 2 until you obtain the desired number of clusters.</a:t>
            </a:r>
          </a:p>
          <a:p>
            <a:pPr fontAlgn="base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707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join two clusters to form one cluster?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779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obtain the desired number of clusters, the number of clusters needs to be reduced from initially being n cluster (n equals the total number of data-points).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Two </a:t>
            </a:r>
            <a:r>
              <a:rPr lang="en-US" dirty="0"/>
              <a:t>clusters are combined by computing the similarity between them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There are some </a:t>
            </a:r>
            <a:r>
              <a:rPr lang="en-US" b="1" dirty="0"/>
              <a:t>methods which are used to calculate the similarity between two clusters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Single link</a:t>
            </a:r>
            <a:r>
              <a:rPr lang="en-US" sz="2000" b="1" dirty="0" smtClean="0"/>
              <a:t>:</a:t>
            </a:r>
            <a:r>
              <a:rPr lang="en-US" sz="2000" dirty="0" smtClean="0"/>
              <a:t> Distance </a:t>
            </a:r>
            <a:r>
              <a:rPr lang="en-US" sz="2000" dirty="0"/>
              <a:t>between two closest points in two clusters</a:t>
            </a:r>
            <a:r>
              <a:rPr lang="en-US" sz="2000" dirty="0" smtClean="0"/>
              <a:t>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b="1" dirty="0" smtClean="0"/>
              <a:t>i.e</a:t>
            </a:r>
            <a:r>
              <a:rPr lang="en-US" sz="2000" b="1" dirty="0"/>
              <a:t>., dis(K</a:t>
            </a:r>
            <a:r>
              <a:rPr lang="en-US" sz="2000" b="1" baseline="-25000" dirty="0"/>
              <a:t>i</a:t>
            </a:r>
            <a:r>
              <a:rPr lang="en-US" sz="2000" b="1" dirty="0"/>
              <a:t> , </a:t>
            </a:r>
            <a:r>
              <a:rPr lang="en-US" sz="2000" b="1" dirty="0" err="1"/>
              <a:t>K</a:t>
            </a:r>
            <a:r>
              <a:rPr lang="en-US" sz="2000" b="1" baseline="-25000" dirty="0" err="1"/>
              <a:t>j</a:t>
            </a:r>
            <a:r>
              <a:rPr lang="en-US" sz="2000" b="1" dirty="0"/>
              <a:t> ) = min(t</a:t>
            </a:r>
            <a:r>
              <a:rPr lang="en-US" sz="2000" b="1" baseline="-25000" dirty="0"/>
              <a:t>ip</a:t>
            </a:r>
            <a:r>
              <a:rPr lang="en-US" sz="2000" b="1" dirty="0"/>
              <a:t>, </a:t>
            </a:r>
            <a:r>
              <a:rPr lang="en-US" sz="2000" b="1" dirty="0" err="1"/>
              <a:t>t</a:t>
            </a:r>
            <a:r>
              <a:rPr lang="en-US" sz="2000" b="1" baseline="-25000" dirty="0" err="1"/>
              <a:t>jq</a:t>
            </a:r>
            <a:r>
              <a:rPr lang="en-US" sz="2000" b="1" dirty="0"/>
              <a:t>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Complete link</a:t>
            </a:r>
            <a:r>
              <a:rPr lang="en-US" sz="2000" b="1" dirty="0" smtClean="0"/>
              <a:t>: </a:t>
            </a:r>
            <a:r>
              <a:rPr lang="en-US" sz="2000" dirty="0" smtClean="0"/>
              <a:t>Distance </a:t>
            </a:r>
            <a:r>
              <a:rPr lang="en-US" sz="2000" dirty="0"/>
              <a:t>between two farthest points in two clusters</a:t>
            </a:r>
            <a:r>
              <a:rPr lang="en-US" sz="2000" b="1" dirty="0" smtClean="0"/>
              <a:t>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b="1" dirty="0" smtClean="0"/>
              <a:t>i.e</a:t>
            </a:r>
            <a:r>
              <a:rPr lang="en-US" sz="2000" b="1" dirty="0"/>
              <a:t>. dis(K</a:t>
            </a:r>
            <a:r>
              <a:rPr lang="en-US" sz="2000" b="1" baseline="-25000" dirty="0"/>
              <a:t>i</a:t>
            </a:r>
            <a:r>
              <a:rPr lang="en-US" sz="2000" b="1" dirty="0"/>
              <a:t> , </a:t>
            </a:r>
            <a:r>
              <a:rPr lang="en-US" sz="2000" b="1" dirty="0" err="1"/>
              <a:t>K</a:t>
            </a:r>
            <a:r>
              <a:rPr lang="en-US" sz="2000" b="1" baseline="-25000" dirty="0" err="1"/>
              <a:t>j</a:t>
            </a:r>
            <a:r>
              <a:rPr lang="en-US" sz="2000" b="1" dirty="0"/>
              <a:t> ) = </a:t>
            </a:r>
            <a:r>
              <a:rPr lang="en-US" sz="2000" b="1" dirty="0" smtClean="0"/>
              <a:t>max(t</a:t>
            </a:r>
            <a:r>
              <a:rPr lang="en-US" sz="2000" b="1" baseline="-25000" dirty="0" smtClean="0"/>
              <a:t>ip</a:t>
            </a:r>
            <a:r>
              <a:rPr lang="en-US" sz="2000" b="1" dirty="0"/>
              <a:t>, </a:t>
            </a:r>
            <a:r>
              <a:rPr lang="en-US" sz="2000" b="1" dirty="0" err="1"/>
              <a:t>t</a:t>
            </a:r>
            <a:r>
              <a:rPr lang="en-US" sz="2000" b="1" baseline="-25000" dirty="0" err="1"/>
              <a:t>jq</a:t>
            </a:r>
            <a:r>
              <a:rPr lang="en-US" sz="2000" b="1" dirty="0"/>
              <a:t>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Average: </a:t>
            </a:r>
            <a:r>
              <a:rPr lang="en-US" sz="2000" dirty="0" smtClean="0"/>
              <a:t>The </a:t>
            </a:r>
            <a:r>
              <a:rPr lang="en-US" sz="2000" dirty="0"/>
              <a:t>average distance between all points in the two clusters</a:t>
            </a:r>
            <a:r>
              <a:rPr lang="en-US" sz="2000" dirty="0" smtClean="0"/>
              <a:t>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b="1" dirty="0" smtClean="0"/>
              <a:t>i.e</a:t>
            </a:r>
            <a:r>
              <a:rPr lang="en-US" sz="2000" b="1" dirty="0"/>
              <a:t>. dis(K</a:t>
            </a:r>
            <a:r>
              <a:rPr lang="en-US" sz="2000" b="1" baseline="-25000" dirty="0"/>
              <a:t>i</a:t>
            </a:r>
            <a:r>
              <a:rPr lang="en-US" sz="2000" b="1" dirty="0"/>
              <a:t> , </a:t>
            </a:r>
            <a:r>
              <a:rPr lang="en-US" sz="2000" b="1" dirty="0" err="1"/>
              <a:t>K</a:t>
            </a:r>
            <a:r>
              <a:rPr lang="en-US" sz="2000" b="1" baseline="-25000" dirty="0" err="1"/>
              <a:t>j</a:t>
            </a:r>
            <a:r>
              <a:rPr lang="en-US" sz="2000" b="1" dirty="0"/>
              <a:t> ) = </a:t>
            </a:r>
            <a:r>
              <a:rPr lang="en-US" sz="2000" b="1" dirty="0" err="1" smtClean="0"/>
              <a:t>avg</a:t>
            </a:r>
            <a:r>
              <a:rPr lang="en-US" sz="2000" b="1" dirty="0" smtClean="0"/>
              <a:t>(t</a:t>
            </a:r>
            <a:r>
              <a:rPr lang="en-US" sz="2000" b="1" baseline="-25000" dirty="0" smtClean="0"/>
              <a:t>ip</a:t>
            </a:r>
            <a:r>
              <a:rPr lang="en-US" sz="2000" b="1" dirty="0"/>
              <a:t>, </a:t>
            </a:r>
            <a:r>
              <a:rPr lang="en-US" sz="2000" b="1" dirty="0" err="1"/>
              <a:t>t</a:t>
            </a:r>
            <a:r>
              <a:rPr lang="en-US" sz="2000" b="1" baseline="-25000" dirty="0" err="1"/>
              <a:t>jq</a:t>
            </a:r>
            <a:r>
              <a:rPr lang="en-US" sz="2000" b="1" dirty="0"/>
              <a:t>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Centroid: </a:t>
            </a:r>
            <a:r>
              <a:rPr lang="en-US" sz="2000" dirty="0" smtClean="0"/>
              <a:t>Distance </a:t>
            </a:r>
            <a:r>
              <a:rPr lang="en-US" sz="2000" dirty="0"/>
              <a:t>between centroids of two clusters</a:t>
            </a:r>
            <a:r>
              <a:rPr lang="en-US" sz="2000" dirty="0" smtClean="0"/>
              <a:t>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b="1" dirty="0" smtClean="0"/>
              <a:t>i.e. dis(K</a:t>
            </a:r>
            <a:r>
              <a:rPr lang="en-US" sz="2000" b="1" baseline="-25000" dirty="0" smtClean="0"/>
              <a:t>i</a:t>
            </a:r>
            <a:r>
              <a:rPr lang="en-US" sz="2000" b="1" dirty="0" smtClean="0"/>
              <a:t> </a:t>
            </a:r>
            <a:r>
              <a:rPr lang="en-US" sz="2000" b="1" dirty="0"/>
              <a:t>, </a:t>
            </a:r>
            <a:r>
              <a:rPr lang="en-US" sz="2000" b="1" dirty="0" err="1"/>
              <a:t>K</a:t>
            </a:r>
            <a:r>
              <a:rPr lang="en-US" sz="2000" b="1" baseline="-25000" dirty="0" err="1"/>
              <a:t>j</a:t>
            </a:r>
            <a:r>
              <a:rPr lang="en-US" sz="2000" b="1" dirty="0"/>
              <a:t> ) = dis(C</a:t>
            </a:r>
            <a:r>
              <a:rPr lang="en-US" sz="2000" b="1" baseline="-25000" dirty="0"/>
              <a:t>i</a:t>
            </a:r>
            <a:r>
              <a:rPr lang="en-US" sz="2000" b="1" dirty="0"/>
              <a:t> , </a:t>
            </a:r>
            <a:r>
              <a:rPr lang="en-US" sz="2000" b="1" dirty="0" err="1"/>
              <a:t>C</a:t>
            </a:r>
            <a:r>
              <a:rPr lang="en-US" sz="2000" b="1" baseline="-25000" dirty="0" err="1"/>
              <a:t>j</a:t>
            </a:r>
            <a:r>
              <a:rPr lang="en-US" sz="2000" b="1" dirty="0"/>
              <a:t> 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53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The divisive approach is also known as the top-down approach.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In this approach, we would start with the data objects that are in the same cluster.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The group of individual clusters is divided into small clusters by continuous iteration.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dirty="0"/>
              <a:t>The iteration continues until the condition of termination is met or until each cluster contains one object.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 descr="https://miro.medium.com/max/700/1*9-ay426PC9zXWglD7LRNo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940" y="3737333"/>
            <a:ext cx="7005079" cy="224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75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the </a:t>
            </a:r>
            <a:r>
              <a:rPr lang="en-US" dirty="0" smtClean="0"/>
              <a:t>previous sample </a:t>
            </a:r>
            <a:r>
              <a:rPr lang="en-US" dirty="0"/>
              <a:t>dataset, it is observed that there is 3 cluster that is far separated from each other. So we stopped after getting 3 clusters.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Even if start separating further more clusters, below is the obtained result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050" name="Picture 2" descr="https://miro.medium.com/max/392/1*VLN53TWU-nJBB10mCu_ix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284" y="3214530"/>
            <a:ext cx="5206392" cy="276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574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which cluster to split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664292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 the sum of squared errors of each cluster and choose the one with the largest value.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the </a:t>
            </a:r>
            <a:r>
              <a:rPr lang="en-US" dirty="0" smtClean="0"/>
              <a:t>given 2-dimension </a:t>
            </a:r>
            <a:r>
              <a:rPr lang="en-US" dirty="0"/>
              <a:t>dataset, currently, the data points are separated into 2 clusters, for further separating it to form the 3rd cluster find the sum of squared errors (SSE) for each of the points in a red cluster and blue cluster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cluster with the largest SSE value is separated into 2 clusters, hence forming a new cluster.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the </a:t>
            </a:r>
            <a:r>
              <a:rPr lang="en-US" dirty="0" smtClean="0"/>
              <a:t>given image</a:t>
            </a:r>
            <a:r>
              <a:rPr lang="en-US" dirty="0"/>
              <a:t>, it is observed red cluster has larger SSE so it is separated into 2 clusters forming 3 total clusters.</a:t>
            </a:r>
          </a:p>
        </p:txBody>
      </p:sp>
      <p:pic>
        <p:nvPicPr>
          <p:cNvPr id="3074" name="Picture 2" descr="https://miro.medium.com/max/392/1*59Tt8AYi6UN3Rcxd4IuW7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203" y="2140241"/>
            <a:ext cx="3733800" cy="344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208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</a:t>
            </a:r>
            <a:r>
              <a:rPr lang="en-US" dirty="0" smtClean="0"/>
              <a:t>based Clustering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Partition-based </a:t>
            </a:r>
            <a:r>
              <a:rPr lang="en-US" dirty="0"/>
              <a:t>and hierarchical clustering techniques are highly efficient with normal shaped clusters.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However</a:t>
            </a:r>
            <a:r>
              <a:rPr lang="en-US" dirty="0"/>
              <a:t>, when it comes to arbitrary shaped clusters or detecting outliers, density-based techniques are more efficient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Clustering </a:t>
            </a:r>
            <a:r>
              <a:rPr lang="en-US" dirty="0"/>
              <a:t>based on density (local cluster criterion), such as density-connected </a:t>
            </a:r>
            <a:r>
              <a:rPr lang="en-US" dirty="0" smtClean="0"/>
              <a:t>points</a:t>
            </a:r>
          </a:p>
          <a:p>
            <a:pPr marL="0" indent="0">
              <a:buNone/>
            </a:pPr>
            <a:r>
              <a:rPr lang="en-US" b="1" dirty="0" smtClean="0"/>
              <a:t>Major </a:t>
            </a:r>
            <a:r>
              <a:rPr lang="en-US" b="1" dirty="0"/>
              <a:t>features: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Discover </a:t>
            </a:r>
            <a:r>
              <a:rPr lang="en-US" dirty="0"/>
              <a:t>clusters of arbitrary shape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Handle </a:t>
            </a:r>
            <a:r>
              <a:rPr lang="en-US" dirty="0"/>
              <a:t>noise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very </a:t>
            </a:r>
            <a:r>
              <a:rPr lang="en-US" dirty="0" err="1"/>
              <a:t>effienct</a:t>
            </a:r>
            <a:r>
              <a:rPr lang="en-US" dirty="0"/>
              <a:t> at finding high-density regions and outliers.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Need </a:t>
            </a:r>
            <a:r>
              <a:rPr lang="en-US" dirty="0"/>
              <a:t>density parameters as termination condition </a:t>
            </a:r>
          </a:p>
        </p:txBody>
      </p:sp>
    </p:spTree>
    <p:extLst>
      <p:ext uri="{BB962C8B-B14F-4D97-AF65-F5344CB8AC3E}">
        <p14:creationId xmlns:p14="http://schemas.microsoft.com/office/powerpoint/2010/main" val="93287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based Clustering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595182" cy="402336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 example, the dataset in the figure below can easily be divided into three clusters using k-means </a:t>
            </a:r>
            <a:r>
              <a:rPr lang="en-US" dirty="0" err="1"/>
              <a:t>algoritm</a:t>
            </a:r>
            <a:r>
              <a:rPr lang="en-US" dirty="0"/>
              <a:t>.</a:t>
            </a:r>
          </a:p>
        </p:txBody>
      </p:sp>
      <p:pic>
        <p:nvPicPr>
          <p:cNvPr id="4098" name="Picture 2" descr="https://miro.medium.com/max/448/1*IPxS4b84CEs1XPiEIHop2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71" y="2945297"/>
            <a:ext cx="4267200" cy="280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795492" y="1845734"/>
            <a:ext cx="5360187" cy="40233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Consider the following figures:</a:t>
            </a:r>
          </a:p>
        </p:txBody>
      </p:sp>
      <p:pic>
        <p:nvPicPr>
          <p:cNvPr id="4100" name="Picture 4" descr="https://miro.medium.com/max/512/1*nCt89v-DPIN05mrWOpEiD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583" y="2329355"/>
            <a:ext cx="2832324" cy="183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s://miro.medium.com/max/406/1*Rb3xvN8wUcYV3cZFmKhzl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603" y="2263479"/>
            <a:ext cx="2382591" cy="1962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s://miro.medium.com/max/336/1*vYK_uMNTUAtYNo-RG7XeH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499" y="4291628"/>
            <a:ext cx="3200400" cy="145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7145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DBSCAN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63233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DBSCAN stands for </a:t>
            </a:r>
            <a:r>
              <a:rPr lang="en-US" sz="2200" dirty="0" smtClean="0"/>
              <a:t>(</a:t>
            </a:r>
            <a:r>
              <a:rPr lang="en-US" sz="2200" b="1" dirty="0" smtClean="0"/>
              <a:t>Density-Based</a:t>
            </a:r>
            <a:r>
              <a:rPr lang="en-US" sz="2200" b="1" dirty="0"/>
              <a:t> </a:t>
            </a:r>
            <a:r>
              <a:rPr lang="en-US" sz="2200" b="1" dirty="0" smtClean="0"/>
              <a:t>Spatial</a:t>
            </a:r>
            <a:r>
              <a:rPr lang="en-US" sz="2200" b="1" dirty="0"/>
              <a:t> </a:t>
            </a:r>
            <a:r>
              <a:rPr lang="en-US" sz="2200" b="1" dirty="0" smtClean="0"/>
              <a:t>Clustering </a:t>
            </a:r>
            <a:r>
              <a:rPr lang="en-US" sz="2200" b="1" dirty="0"/>
              <a:t>of </a:t>
            </a:r>
            <a:r>
              <a:rPr lang="en-US" sz="2200" b="1" dirty="0" smtClean="0"/>
              <a:t>Applications </a:t>
            </a:r>
            <a:r>
              <a:rPr lang="en-US" sz="2200" b="1" dirty="0"/>
              <a:t>with </a:t>
            </a:r>
            <a:r>
              <a:rPr lang="en-US" sz="2200" b="1" dirty="0" smtClean="0"/>
              <a:t>Noise</a:t>
            </a:r>
            <a:r>
              <a:rPr lang="en-US" sz="22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It </a:t>
            </a:r>
            <a:r>
              <a:rPr lang="en-US" sz="2200" dirty="0"/>
              <a:t>is </a:t>
            </a:r>
            <a:r>
              <a:rPr lang="en-US" sz="2200" dirty="0" smtClean="0"/>
              <a:t>able </a:t>
            </a:r>
            <a:r>
              <a:rPr lang="en-US" sz="2200" dirty="0"/>
              <a:t>to find arbitrary shaped clusters and clusters with noise (i.e. outliers</a:t>
            </a:r>
            <a:r>
              <a:rPr lang="en-US" sz="2200" dirty="0" smtClean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The main idea behind DBSCAN is that a point belongs to a cluster if it is close to many points from that cluster</a:t>
            </a:r>
            <a:r>
              <a:rPr lang="en-US" sz="22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There are two key parameters of DBSCAN</a:t>
            </a:r>
            <a:r>
              <a:rPr lang="en-US" sz="2200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eps</a:t>
            </a:r>
            <a:r>
              <a:rPr lang="en-US" sz="2200" dirty="0"/>
              <a:t>: The distance that specifies the neighborhoods. Two points are considered to be neighbors if the distance between them are less than or equal to eps.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 err="1"/>
              <a:t>minPts</a:t>
            </a:r>
            <a:r>
              <a:rPr lang="en-US" sz="2200" b="1" dirty="0"/>
              <a:t>:</a:t>
            </a:r>
            <a:r>
              <a:rPr lang="en-US" sz="2200" dirty="0"/>
              <a:t> Minimum number of data points to define a cluster.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Based on these two parameters, points are classified </a:t>
            </a:r>
            <a:r>
              <a:rPr lang="en-US" sz="2200" dirty="0" smtClean="0"/>
              <a:t>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Core point:</a:t>
            </a:r>
            <a:r>
              <a:rPr lang="en-US" sz="2200" dirty="0"/>
              <a:t> A point is a core point if there are at least </a:t>
            </a:r>
            <a:r>
              <a:rPr lang="en-US" sz="2200" dirty="0" err="1"/>
              <a:t>minPts</a:t>
            </a:r>
            <a:r>
              <a:rPr lang="en-US" sz="2200" dirty="0"/>
              <a:t> number of points (including the point itself) in its surrounding area with radius eps.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Border point:</a:t>
            </a:r>
            <a:r>
              <a:rPr lang="en-US" sz="2200" dirty="0"/>
              <a:t> A point is a border point if it is reachable from a core point and there are less than </a:t>
            </a:r>
            <a:r>
              <a:rPr lang="en-US" sz="2200" dirty="0" err="1"/>
              <a:t>minPts</a:t>
            </a:r>
            <a:r>
              <a:rPr lang="en-US" sz="2200" dirty="0"/>
              <a:t> number of points within its surrounding area.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/>
              <a:t>Outlier:</a:t>
            </a:r>
            <a:r>
              <a:rPr lang="en-US" sz="2200" dirty="0"/>
              <a:t> A point is an outlier if it is not a core point and not reachable from any core points.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79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6964895" cy="440052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this case, </a:t>
            </a:r>
            <a:r>
              <a:rPr lang="en-US" dirty="0" err="1"/>
              <a:t>minPts</a:t>
            </a:r>
            <a:r>
              <a:rPr lang="en-US" dirty="0"/>
              <a:t> is 4.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Red </a:t>
            </a:r>
            <a:r>
              <a:rPr lang="en-US" b="1" dirty="0"/>
              <a:t>points are core points </a:t>
            </a:r>
            <a:r>
              <a:rPr lang="en-US" dirty="0"/>
              <a:t>because there are </a:t>
            </a:r>
            <a:r>
              <a:rPr lang="en-US" b="1" dirty="0"/>
              <a:t>at least</a:t>
            </a:r>
            <a:r>
              <a:rPr lang="en-US" dirty="0"/>
              <a:t> 4 points within their surrounding area with radius eps. This area is shown with the circles in the figure.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yellow points are border points </a:t>
            </a:r>
            <a:r>
              <a:rPr lang="en-US" dirty="0"/>
              <a:t>because they are reachable from a core point and have less than 4 points within their neighborhood.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Reachable </a:t>
            </a:r>
            <a:r>
              <a:rPr lang="en-US" dirty="0"/>
              <a:t>means being in the surrounding area of a core point.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points B and C have two points (including the point itself) within their </a:t>
            </a:r>
            <a:r>
              <a:rPr lang="en-US" dirty="0" err="1"/>
              <a:t>neigborhood</a:t>
            </a:r>
            <a:r>
              <a:rPr lang="en-US" dirty="0"/>
              <a:t> (i.e. the surrounding area with a radius of eps).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Finally </a:t>
            </a:r>
            <a:r>
              <a:rPr lang="en-US" b="1" dirty="0"/>
              <a:t>N is an outlier </a:t>
            </a:r>
            <a:r>
              <a:rPr lang="en-US" dirty="0"/>
              <a:t>because it is not a core point and cannot be reached from a core point.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084" y="2251872"/>
            <a:ext cx="3322749" cy="32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375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Density-Reachable and Density-Connected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6655802" cy="427173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Density-reachable</a:t>
            </a:r>
            <a:r>
              <a:rPr lang="en-US" sz="2400" b="1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 </a:t>
            </a:r>
            <a:r>
              <a:rPr lang="en-US" sz="2400" dirty="0"/>
              <a:t>point p is density-reachable from a point q w.r.t. Eps, </a:t>
            </a:r>
            <a:r>
              <a:rPr lang="en-US" sz="2400" dirty="0" err="1"/>
              <a:t>MinPts</a:t>
            </a:r>
            <a:r>
              <a:rPr lang="en-US" sz="2400" dirty="0"/>
              <a:t> if there is a chain of points p</a:t>
            </a:r>
            <a:r>
              <a:rPr lang="en-US" sz="2400" baseline="-25000" dirty="0"/>
              <a:t>1</a:t>
            </a:r>
            <a:r>
              <a:rPr lang="en-US" sz="2400" dirty="0"/>
              <a:t> , …, </a:t>
            </a:r>
            <a:r>
              <a:rPr lang="en-US" sz="2400" dirty="0" err="1"/>
              <a:t>p</a:t>
            </a:r>
            <a:r>
              <a:rPr lang="en-US" sz="2400" baseline="-25000" dirty="0" err="1"/>
              <a:t>n</a:t>
            </a:r>
            <a:r>
              <a:rPr lang="en-US" sz="2400" dirty="0"/>
              <a:t> , p</a:t>
            </a:r>
            <a:r>
              <a:rPr lang="en-US" sz="2400" baseline="-25000" dirty="0"/>
              <a:t>1</a:t>
            </a:r>
            <a:r>
              <a:rPr lang="en-US" sz="2400" dirty="0"/>
              <a:t> = q, </a:t>
            </a:r>
            <a:r>
              <a:rPr lang="en-US" sz="2400" dirty="0" err="1"/>
              <a:t>p</a:t>
            </a:r>
            <a:r>
              <a:rPr lang="en-US" sz="2400" baseline="-25000" dirty="0" err="1"/>
              <a:t>n</a:t>
            </a:r>
            <a:r>
              <a:rPr lang="en-US" sz="2400" dirty="0"/>
              <a:t> = p such that p</a:t>
            </a:r>
            <a:r>
              <a:rPr lang="en-US" sz="2400" baseline="-25000" dirty="0"/>
              <a:t>i+1</a:t>
            </a:r>
            <a:r>
              <a:rPr lang="en-US" sz="2400" dirty="0"/>
              <a:t> is directly density-reachable from p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Density-connected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A </a:t>
            </a:r>
            <a:r>
              <a:rPr lang="en-US" sz="2400" dirty="0"/>
              <a:t>point p is density-connected to a point q w.r.t. Eps, </a:t>
            </a:r>
            <a:r>
              <a:rPr lang="en-US" sz="2400" dirty="0" err="1"/>
              <a:t>MinPts</a:t>
            </a:r>
            <a:r>
              <a:rPr lang="en-US" sz="2400" dirty="0"/>
              <a:t> if there is a point o such that both, p and q are density-reachable from o w.r.t. Eps and </a:t>
            </a:r>
            <a:r>
              <a:rPr lang="en-US" sz="2400" dirty="0" err="1"/>
              <a:t>MinPts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28" y="1845733"/>
            <a:ext cx="2466975" cy="19020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02" y="4221989"/>
            <a:ext cx="29432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87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DBSCAN(Algorithm)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Arbitrary select a point p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Retrieve </a:t>
            </a:r>
            <a:r>
              <a:rPr lang="en-US" sz="2800" dirty="0"/>
              <a:t>all points density-reachable from p w.r.t. Eps and </a:t>
            </a:r>
            <a:r>
              <a:rPr lang="en-US" sz="2800" dirty="0" err="1"/>
              <a:t>MinPts</a:t>
            </a:r>
            <a:r>
              <a:rPr lang="en-US" sz="2800" dirty="0"/>
              <a:t>.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If </a:t>
            </a:r>
            <a:r>
              <a:rPr lang="en-US" sz="2800" dirty="0"/>
              <a:t>p is a core point, a cluster is formed.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If </a:t>
            </a:r>
            <a:r>
              <a:rPr lang="en-US" sz="2800" dirty="0"/>
              <a:t>p is a border point, no points are density-reachable from p and DBSCAN visits the next point of the database</a:t>
            </a:r>
            <a:r>
              <a:rPr lang="en-US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Continue </a:t>
            </a:r>
            <a:r>
              <a:rPr lang="en-US" sz="2800" dirty="0"/>
              <a:t>the process until all of the points have been processed. </a:t>
            </a:r>
          </a:p>
        </p:txBody>
      </p:sp>
    </p:spTree>
    <p:extLst>
      <p:ext uri="{BB962C8B-B14F-4D97-AF65-F5344CB8AC3E}">
        <p14:creationId xmlns:p14="http://schemas.microsoft.com/office/powerpoint/2010/main" val="1700838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Outlier analysis is the process of identifying outliers, or abnormal observations, in a dataset. </a:t>
            </a:r>
            <a:endParaRPr lang="en-US" sz="22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Also </a:t>
            </a:r>
            <a:r>
              <a:rPr lang="en-US" sz="2200" dirty="0"/>
              <a:t>known as outlier detection, it’s an important step in data analysis, as it removes erroneous or inaccurate observations which might otherwise skew conclusions</a:t>
            </a:r>
            <a:r>
              <a:rPr lang="en-US" sz="22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part of any data analysis procedure</a:t>
            </a:r>
            <a:r>
              <a:rPr lang="en-US" sz="22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when the dataset reaches steps that truly involve assessing and interpreting the data, any outliers will have already been removed</a:t>
            </a:r>
            <a:r>
              <a:rPr lang="en-US" sz="22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it improves the quality of the dataset being subject to analysis.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40417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Analysis </a:t>
            </a:r>
            <a:r>
              <a:rPr lang="en-US" dirty="0" smtClean="0"/>
              <a:t>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Sorting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load your dataset into any kind of data manipulation tool (such as a spreadsheet), and </a:t>
            </a:r>
            <a:endParaRPr lang="en-US" sz="22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sort </a:t>
            </a:r>
            <a:r>
              <a:rPr lang="en-US" sz="2200" dirty="0"/>
              <a:t>the values by their magnitude. Then, look at the range of values of various data points</a:t>
            </a:r>
            <a:r>
              <a:rPr lang="en-US" sz="22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If </a:t>
            </a:r>
            <a:r>
              <a:rPr lang="en-US" sz="2200" dirty="0"/>
              <a:t>any data points are significantly higher or lower than others in the dataset, they may be treated as outliers</a:t>
            </a:r>
            <a:r>
              <a:rPr lang="en-US" sz="22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Graphing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plot all of the data points on a graph, and see which points stand out from the rest. </a:t>
            </a:r>
            <a:endParaRPr lang="en-US" sz="22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 smtClean="0"/>
              <a:t>The </a:t>
            </a:r>
            <a:r>
              <a:rPr lang="en-US" sz="2200" dirty="0"/>
              <a:t>advantage of using a graphing approach over a sorting approach is that it visualizes the magnitude of the data points, which makes it much easier to spot outliers.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788400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760</TotalTime>
  <Words>2333</Words>
  <Application>Microsoft Office PowerPoint</Application>
  <PresentationFormat>Widescreen</PresentationFormat>
  <Paragraphs>306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Calibri</vt:lpstr>
      <vt:lpstr>Calibri Light</vt:lpstr>
      <vt:lpstr>Wingdings</vt:lpstr>
      <vt:lpstr>Retrospect</vt:lpstr>
      <vt:lpstr>Unit-7 Cluster Analysis</vt:lpstr>
      <vt:lpstr>Cluster Analysis</vt:lpstr>
      <vt:lpstr>Examples of Clustering Applications</vt:lpstr>
      <vt:lpstr>Types of data in cluster analysis</vt:lpstr>
      <vt:lpstr>Types of data in cluster analysis</vt:lpstr>
      <vt:lpstr>Similarity and dissimilarity between objects</vt:lpstr>
      <vt:lpstr>Similarity and dissimilarity between objects</vt:lpstr>
      <vt:lpstr>Major Clustering Approaches</vt:lpstr>
      <vt:lpstr>K-Means</vt:lpstr>
      <vt:lpstr>K-Means</vt:lpstr>
      <vt:lpstr>K-Means(Algorithm)</vt:lpstr>
      <vt:lpstr>K-Means(Algorithm)</vt:lpstr>
      <vt:lpstr>K-Means(Example)</vt:lpstr>
      <vt:lpstr>K-Means(Example)</vt:lpstr>
      <vt:lpstr>K-Means(Example)</vt:lpstr>
      <vt:lpstr>K-Means(Example)</vt:lpstr>
      <vt:lpstr>K-Means(Exercise)</vt:lpstr>
      <vt:lpstr>K-Means</vt:lpstr>
      <vt:lpstr>Drawback of K-means algorithm</vt:lpstr>
      <vt:lpstr>K-Means++</vt:lpstr>
      <vt:lpstr>K-Means++(Algorithm)</vt:lpstr>
      <vt:lpstr>Mini-Batch k-means</vt:lpstr>
      <vt:lpstr>K-Medoids</vt:lpstr>
      <vt:lpstr>K-Medoids(Algorithm)</vt:lpstr>
      <vt:lpstr>K-Medoids(Example)</vt:lpstr>
      <vt:lpstr>K-Medoids(Example)</vt:lpstr>
      <vt:lpstr>K-Medoids(Example)</vt:lpstr>
      <vt:lpstr>K-Medoids</vt:lpstr>
      <vt:lpstr>Hierarchical Clustering</vt:lpstr>
      <vt:lpstr>Dendrogram: Shows How the Clusters are Merged</vt:lpstr>
      <vt:lpstr>Agglomerative Approach</vt:lpstr>
      <vt:lpstr>How to join two clusters to form one cluster?</vt:lpstr>
      <vt:lpstr>Divisive Approach</vt:lpstr>
      <vt:lpstr>Divisive Approach</vt:lpstr>
      <vt:lpstr>How to choose which cluster to split?</vt:lpstr>
      <vt:lpstr>Density based Clustering Method</vt:lpstr>
      <vt:lpstr>Density based Clustering Method</vt:lpstr>
      <vt:lpstr>DBSCAN</vt:lpstr>
      <vt:lpstr>DBSCAN</vt:lpstr>
      <vt:lpstr>Density-Reachable and Density-Connected</vt:lpstr>
      <vt:lpstr>DBSCAN(Algorithm)</vt:lpstr>
      <vt:lpstr>Outlier analysis</vt:lpstr>
      <vt:lpstr>Outlier Analysis Techniques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Unit-7 Cluster Analysis</dc:title>
  <dc:creator>gs</dc:creator>
  <cp:lastModifiedBy>gs</cp:lastModifiedBy>
  <cp:revision>166</cp:revision>
  <dcterms:created xsi:type="dcterms:W3CDTF">2023-01-03T17:26:59Z</dcterms:created>
  <dcterms:modified xsi:type="dcterms:W3CDTF">2023-02-24T16:54:41Z</dcterms:modified>
</cp:coreProperties>
</file>